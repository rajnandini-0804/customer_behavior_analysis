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Lato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2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299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-6-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-6-3.svg"/><Relationship Id="rId4" Type="http://schemas.openxmlformats.org/officeDocument/2006/relationships/image" Target="../media/image6.png"/><Relationship Id="rId9" Type="http://schemas.openxmlformats.org/officeDocument/2006/relationships/image" Target="../media/image-6-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-10-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-10-5.svg"/><Relationship Id="rId5" Type="http://schemas.openxmlformats.org/officeDocument/2006/relationships/image" Target="../media/image-10-3.svg"/><Relationship Id="rId4" Type="http://schemas.openxmlformats.org/officeDocument/2006/relationships/image" Target="../media/image6.png"/><Relationship Id="rId9" Type="http://schemas.openxmlformats.org/officeDocument/2006/relationships/image" Target="../media/image-10-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743664"/>
            <a:ext cx="2032635" cy="426244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811649"/>
            <a:ext cx="17604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2606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Foundation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42292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793790" y="345471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3945136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3407093" y="242292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18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407093" y="345471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407093" y="3945136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Features per customer transaction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020395" y="242292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50</a:t>
            </a:r>
            <a:endParaRPr lang="en-US" sz="5850" dirty="0"/>
          </a:p>
        </p:txBody>
      </p:sp>
      <p:sp>
        <p:nvSpPr>
          <p:cNvPr id="13" name="Text 10"/>
          <p:cNvSpPr/>
          <p:nvPr/>
        </p:nvSpPr>
        <p:spPr>
          <a:xfrm>
            <a:off x="6020395" y="345471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020395" y="3945136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Geographic coverage across regions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3407093" y="523791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5850" dirty="0"/>
          </a:p>
        </p:txBody>
      </p:sp>
      <p:sp>
        <p:nvSpPr>
          <p:cNvPr id="16" name="Text 13"/>
          <p:cNvSpPr/>
          <p:nvPr/>
        </p:nvSpPr>
        <p:spPr>
          <a:xfrm>
            <a:off x="3407093" y="626971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Categories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407093" y="6760131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 segments tracked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58270" y="534233"/>
            <a:ext cx="1705094" cy="375999"/>
          </a:xfrm>
          <a:prstGeom prst="roundRect">
            <a:avLst>
              <a:gd name="adj" fmla="val 6127"/>
            </a:avLst>
          </a:prstGeom>
          <a:noFill/>
          <a:ln w="7620">
            <a:solidFill>
              <a:srgbClr val="28282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81023" y="599361"/>
            <a:ext cx="1459587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158270" y="986909"/>
            <a:ext cx="5292209" cy="59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 Analysis Pipeline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6158270" y="1874639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58270" y="2178010"/>
            <a:ext cx="7800261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8" name="Text 5"/>
          <p:cNvSpPr/>
          <p:nvPr/>
        </p:nvSpPr>
        <p:spPr>
          <a:xfrm>
            <a:off x="6158270" y="2319695"/>
            <a:ext cx="293215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Loading &amp; Exploration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158270" y="2734866"/>
            <a:ext cx="7800261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Imported dataset, checked structure with df.info() and summary statistics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58270" y="3377803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58270" y="3681174"/>
            <a:ext cx="7800261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2" name="Text 9"/>
          <p:cNvSpPr/>
          <p:nvPr/>
        </p:nvSpPr>
        <p:spPr>
          <a:xfrm>
            <a:off x="6158270" y="3822859"/>
            <a:ext cx="2410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Missing Data Handling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158270" y="4238030"/>
            <a:ext cx="7800261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Imputed 37 missing Review Ratings using median by category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58270" y="4880967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58270" y="5184338"/>
            <a:ext cx="7800261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6" name="Text 13"/>
          <p:cNvSpPr/>
          <p:nvPr/>
        </p:nvSpPr>
        <p:spPr>
          <a:xfrm>
            <a:off x="6158270" y="5326023"/>
            <a:ext cx="23998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158270" y="5741194"/>
            <a:ext cx="7800261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Created age_group bins and purchase_frequency_days columns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58270" y="6384131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58270" y="6687503"/>
            <a:ext cx="7800261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0" name="Text 17"/>
          <p:cNvSpPr/>
          <p:nvPr/>
        </p:nvSpPr>
        <p:spPr>
          <a:xfrm>
            <a:off x="6158270" y="6829187"/>
            <a:ext cx="23998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Database Integration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6158270" y="7244358"/>
            <a:ext cx="7800261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to MySQL Workbench for structured analysis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Revenue Insights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258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9096" y="24817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Gender Split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8959096" y="3133844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Male customers generate </a:t>
            </a:r>
            <a:r>
              <a:rPr lang="en-US" sz="1750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2.1x more revenue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than female customers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959096" y="4063722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revenue: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$233,081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91659"/>
            <a:ext cx="2115145" cy="426244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9878" y="1014055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959644"/>
            <a:ext cx="157079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 PERFORMERS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408628"/>
            <a:ext cx="60864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Highest-Rated Products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2797731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EFECE6"/>
          </a:solidFill>
          <a:ln/>
        </p:spPr>
      </p:sp>
      <p:sp>
        <p:nvSpPr>
          <p:cNvPr id="7" name="Shape 4"/>
          <p:cNvSpPr/>
          <p:nvPr/>
        </p:nvSpPr>
        <p:spPr>
          <a:xfrm>
            <a:off x="793790" y="2767251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8" name="Shape 5"/>
          <p:cNvSpPr/>
          <p:nvPr/>
        </p:nvSpPr>
        <p:spPr>
          <a:xfrm>
            <a:off x="2551688" y="24575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4"/>
          </a:solidFill>
          <a:ln/>
        </p:spPr>
      </p:sp>
      <p:sp>
        <p:nvSpPr>
          <p:cNvPr id="9" name="Text 6"/>
          <p:cNvSpPr/>
          <p:nvPr/>
        </p:nvSpPr>
        <p:spPr>
          <a:xfrm>
            <a:off x="2755761" y="262770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51084" y="33647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Gloves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1084" y="3855125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Rating: 3.86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216962" y="2797731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EFECE6"/>
          </a:solidFill>
          <a:ln/>
        </p:spPr>
      </p:sp>
      <p:sp>
        <p:nvSpPr>
          <p:cNvPr id="13" name="Shape 10"/>
          <p:cNvSpPr/>
          <p:nvPr/>
        </p:nvSpPr>
        <p:spPr>
          <a:xfrm>
            <a:off x="5216962" y="2767251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14" name="Shape 11"/>
          <p:cNvSpPr/>
          <p:nvPr/>
        </p:nvSpPr>
        <p:spPr>
          <a:xfrm>
            <a:off x="6974860" y="24575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4"/>
          </a:solidFill>
          <a:ln/>
        </p:spPr>
      </p:sp>
      <p:sp>
        <p:nvSpPr>
          <p:cNvPr id="15" name="Text 12"/>
          <p:cNvSpPr/>
          <p:nvPr/>
        </p:nvSpPr>
        <p:spPr>
          <a:xfrm>
            <a:off x="7178933" y="262770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474256" y="33647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474256" y="3855125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Rating: 3.84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9640133" y="2797731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EFECE6"/>
          </a:solidFill>
          <a:ln/>
        </p:spPr>
      </p:sp>
      <p:sp>
        <p:nvSpPr>
          <p:cNvPr id="19" name="Shape 16"/>
          <p:cNvSpPr/>
          <p:nvPr/>
        </p:nvSpPr>
        <p:spPr>
          <a:xfrm>
            <a:off x="9640133" y="2767251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20" name="Shape 17"/>
          <p:cNvSpPr/>
          <p:nvPr/>
        </p:nvSpPr>
        <p:spPr>
          <a:xfrm>
            <a:off x="11398032" y="24575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4"/>
          </a:solidFill>
          <a:ln/>
        </p:spPr>
      </p:sp>
      <p:sp>
        <p:nvSpPr>
          <p:cNvPr id="21" name="Text 18"/>
          <p:cNvSpPr/>
          <p:nvPr/>
        </p:nvSpPr>
        <p:spPr>
          <a:xfrm>
            <a:off x="11602105" y="262770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897427" y="33647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Boots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897427" y="3855125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Rating: 3.82</a:t>
            </a:r>
            <a:endParaRPr lang="en-US" sz="1750" dirty="0"/>
          </a:p>
        </p:txBody>
      </p:sp>
      <p:sp>
        <p:nvSpPr>
          <p:cNvPr id="24" name="Shape 21"/>
          <p:cNvSpPr/>
          <p:nvPr/>
        </p:nvSpPr>
        <p:spPr>
          <a:xfrm>
            <a:off x="793790" y="5042297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EFECE6"/>
          </a:solidFill>
          <a:ln/>
        </p:spPr>
      </p:sp>
      <p:sp>
        <p:nvSpPr>
          <p:cNvPr id="25" name="Shape 22"/>
          <p:cNvSpPr/>
          <p:nvPr/>
        </p:nvSpPr>
        <p:spPr>
          <a:xfrm>
            <a:off x="793790" y="5011817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26" name="Shape 23"/>
          <p:cNvSpPr/>
          <p:nvPr/>
        </p:nvSpPr>
        <p:spPr>
          <a:xfrm>
            <a:off x="3657540" y="470213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4"/>
          </a:solidFill>
          <a:ln/>
        </p:spPr>
      </p:sp>
      <p:sp>
        <p:nvSpPr>
          <p:cNvPr id="27" name="Text 24"/>
          <p:cNvSpPr/>
          <p:nvPr/>
        </p:nvSpPr>
        <p:spPr>
          <a:xfrm>
            <a:off x="3861614" y="487227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051084" y="56092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Hat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1051084" y="609969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Rating: 3.80</a:t>
            </a:r>
            <a:endParaRPr lang="en-US" sz="1750" dirty="0"/>
          </a:p>
        </p:txBody>
      </p:sp>
      <p:sp>
        <p:nvSpPr>
          <p:cNvPr id="30" name="Shape 27"/>
          <p:cNvSpPr/>
          <p:nvPr/>
        </p:nvSpPr>
        <p:spPr>
          <a:xfrm>
            <a:off x="7428548" y="5042297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EFECE6"/>
          </a:solidFill>
          <a:ln/>
        </p:spPr>
      </p:sp>
      <p:sp>
        <p:nvSpPr>
          <p:cNvPr id="31" name="Shape 28"/>
          <p:cNvSpPr/>
          <p:nvPr/>
        </p:nvSpPr>
        <p:spPr>
          <a:xfrm>
            <a:off x="7428548" y="5011817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32" name="Shape 29"/>
          <p:cNvSpPr/>
          <p:nvPr/>
        </p:nvSpPr>
        <p:spPr>
          <a:xfrm>
            <a:off x="10292298" y="470213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4"/>
          </a:solidFill>
          <a:ln/>
        </p:spPr>
      </p:sp>
      <p:sp>
        <p:nvSpPr>
          <p:cNvPr id="33" name="Text 30"/>
          <p:cNvSpPr/>
          <p:nvPr/>
        </p:nvSpPr>
        <p:spPr>
          <a:xfrm>
            <a:off x="10496371" y="487227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7685842" y="56092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Skirt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685842" y="609969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Rating: 3.78</a:t>
            </a:r>
            <a:endParaRPr lang="en-US" sz="1750" dirty="0"/>
          </a:p>
        </p:txBody>
      </p:sp>
      <p:sp>
        <p:nvSpPr>
          <p:cNvPr id="36" name="Text 33"/>
          <p:cNvSpPr/>
          <p:nvPr/>
        </p:nvSpPr>
        <p:spPr>
          <a:xfrm>
            <a:off x="793790" y="69750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Average overall rating: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3.75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across all products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61508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019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Loyal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10207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09198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80% of customer base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547717" y="4526161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2793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3283982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937790" y="3782973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18% of customer base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944326" y="3142536"/>
            <a:ext cx="339328" cy="3393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37790" y="52461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New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937790" y="5736550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9937790" y="6235541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2% of customer base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944326" y="5909786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2473" y="406837"/>
            <a:ext cx="3693795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Subscription Analysis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980021" y="2216587"/>
            <a:ext cx="181725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27%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592" y="1293138"/>
            <a:ext cx="2216229" cy="22162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65257" y="3693914"/>
            <a:ext cx="1846897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Subscribers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642473" y="4072295"/>
            <a:ext cx="4492466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1,053 customers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80021" y="5564386"/>
            <a:ext cx="181725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73%</a:t>
            </a:r>
            <a:endParaRPr lang="en-US" sz="2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592" y="4640937"/>
            <a:ext cx="2216229" cy="22162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65257" y="7041713"/>
            <a:ext cx="1846897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Non-Subscribers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2642473" y="7420094"/>
            <a:ext cx="4492466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2,847 customers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502843" y="1237655"/>
            <a:ext cx="221622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Findings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502843" y="1662232"/>
            <a:ext cx="4492466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Subscribers: $59.49 avg spend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502843" y="1950244"/>
            <a:ext cx="4492466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Non-subscribers: $59.87 avg spend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502843" y="2238256"/>
            <a:ext cx="4492466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958 repeat buyers are subscribers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76582" y="447318"/>
            <a:ext cx="1530668" cy="320635"/>
          </a:xfrm>
          <a:prstGeom prst="roundRect">
            <a:avLst>
              <a:gd name="adj" fmla="val 6081"/>
            </a:avLst>
          </a:prstGeom>
          <a:noFill/>
          <a:ln w="7620">
            <a:solidFill>
              <a:srgbClr val="2828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1595" y="503634"/>
            <a:ext cx="1320641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 DEMOGRAPHICS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76582" y="832842"/>
            <a:ext cx="4125516" cy="507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Revenue by Age Group</a:t>
            </a:r>
            <a:endParaRPr lang="en-US" sz="3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582" y="1584365"/>
            <a:ext cx="10277118" cy="57551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76582" y="7522250"/>
            <a:ext cx="10277118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Young adults lead revenue generation, followed closely by middle-aged customers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167360" y="8229599"/>
            <a:ext cx="1463040" cy="19217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58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11642"/>
            <a:ext cx="21227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Metrics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192786"/>
            <a:ext cx="212276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3.9K customers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59762"/>
            <a:ext cx="212276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$59.76 avg purchase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326737"/>
            <a:ext cx="212276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3.75 avg rating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477578" y="3611642"/>
            <a:ext cx="21227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Top Category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77578" y="4192786"/>
            <a:ext cx="212276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Clothing leads with $100K revenue and 1,800 sales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161365" y="3611642"/>
            <a:ext cx="22038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Interactive Filters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161365" y="4547116"/>
            <a:ext cx="22038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Gender, subscription, category, shipping type</a:t>
            </a:r>
            <a:endParaRPr lang="en-US" sz="17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030" y="400050"/>
            <a:ext cx="6389370" cy="7109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15276" y="416719"/>
            <a:ext cx="972741" cy="283845"/>
          </a:xfrm>
          <a:prstGeom prst="roundRect">
            <a:avLst>
              <a:gd name="adj" fmla="val 6389"/>
            </a:avLst>
          </a:prstGeom>
          <a:solidFill>
            <a:srgbClr val="E7E7E4"/>
          </a:solidFill>
          <a:ln/>
        </p:spPr>
      </p:sp>
      <p:sp>
        <p:nvSpPr>
          <p:cNvPr id="4" name="Text 1"/>
          <p:cNvSpPr/>
          <p:nvPr/>
        </p:nvSpPr>
        <p:spPr>
          <a:xfrm>
            <a:off x="6105882" y="461963"/>
            <a:ext cx="791528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ACTION PLAN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015276" y="760928"/>
            <a:ext cx="4748213" cy="47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Strategic Recommendations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6015276" y="1459706"/>
            <a:ext cx="8086249" cy="1474946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7" name="Shape 4"/>
          <p:cNvSpPr/>
          <p:nvPr/>
        </p:nvSpPr>
        <p:spPr>
          <a:xfrm>
            <a:off x="6166366" y="1610797"/>
            <a:ext cx="453271" cy="453271"/>
          </a:xfrm>
          <a:prstGeom prst="roundRect">
            <a:avLst>
              <a:gd name="adj" fmla="val 20171345"/>
            </a:avLst>
          </a:prstGeom>
          <a:solidFill>
            <a:srgbClr val="28282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291024" y="1735455"/>
            <a:ext cx="203954" cy="2039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66366" y="2215158"/>
            <a:ext cx="1889046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Boost Subscriptions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166366" y="2541865"/>
            <a:ext cx="7784068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Promote exclusive benefits to convert non-subscribers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015276" y="3085743"/>
            <a:ext cx="8086249" cy="1474946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12" name="Shape 8"/>
          <p:cNvSpPr/>
          <p:nvPr/>
        </p:nvSpPr>
        <p:spPr>
          <a:xfrm>
            <a:off x="6166366" y="3236833"/>
            <a:ext cx="453271" cy="453271"/>
          </a:xfrm>
          <a:prstGeom prst="roundRect">
            <a:avLst>
              <a:gd name="adj" fmla="val 20171345"/>
            </a:avLst>
          </a:prstGeom>
          <a:solidFill>
            <a:srgbClr val="28282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91024" y="3361492"/>
            <a:ext cx="203954" cy="2039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66366" y="3841194"/>
            <a:ext cx="1889046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Loyalty Programs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166366" y="4167902"/>
            <a:ext cx="7784068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Reward repeat buyers to increase retention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015276" y="4711779"/>
            <a:ext cx="8086249" cy="1474946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17" name="Shape 12"/>
          <p:cNvSpPr/>
          <p:nvPr/>
        </p:nvSpPr>
        <p:spPr>
          <a:xfrm>
            <a:off x="6166366" y="4862870"/>
            <a:ext cx="453271" cy="453271"/>
          </a:xfrm>
          <a:prstGeom prst="roundRect">
            <a:avLst>
              <a:gd name="adj" fmla="val 20171345"/>
            </a:avLst>
          </a:prstGeom>
          <a:solidFill>
            <a:srgbClr val="282824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91024" y="4987528"/>
            <a:ext cx="203954" cy="20395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66366" y="5467231"/>
            <a:ext cx="1889046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Discount Strategy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166366" y="5793938"/>
            <a:ext cx="7784068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 promotions with margin control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015276" y="6337816"/>
            <a:ext cx="8086249" cy="1474946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22" name="Shape 16"/>
          <p:cNvSpPr/>
          <p:nvPr/>
        </p:nvSpPr>
        <p:spPr>
          <a:xfrm>
            <a:off x="6166366" y="6488906"/>
            <a:ext cx="453271" cy="453271"/>
          </a:xfrm>
          <a:prstGeom prst="roundRect">
            <a:avLst>
              <a:gd name="adj" fmla="val 20171345"/>
            </a:avLst>
          </a:prstGeom>
          <a:solidFill>
            <a:srgbClr val="282824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291024" y="6613565"/>
            <a:ext cx="203954" cy="20395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166366" y="7093268"/>
            <a:ext cx="1889046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Targeted Marketing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166366" y="7419975"/>
            <a:ext cx="7784068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 on high-revenue age groups and express shipping users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309</Words>
  <Application>Microsoft Office PowerPoint</Application>
  <PresentationFormat>Custom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Lato Light</vt:lpstr>
      <vt:lpstr>Lato Bold</vt:lpstr>
      <vt:lpstr>Calibri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Rajnandini Bhosale</dc:creator>
  <cp:lastModifiedBy>Rajnandini Bhosale</cp:lastModifiedBy>
  <cp:revision>3</cp:revision>
  <dcterms:created xsi:type="dcterms:W3CDTF">2026-01-17T12:46:48Z</dcterms:created>
  <dcterms:modified xsi:type="dcterms:W3CDTF">2026-01-17T13:13:39Z</dcterms:modified>
</cp:coreProperties>
</file>